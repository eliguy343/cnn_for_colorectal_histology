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25199975" cy="35999738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332" autoAdjust="0"/>
  </p:normalViewPr>
  <p:slideViewPr>
    <p:cSldViewPr snapToGrid="0">
      <p:cViewPr>
        <p:scale>
          <a:sx n="66" d="100"/>
          <a:sy n="66" d="100"/>
        </p:scale>
        <p:origin x="-269" y="-10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732320" y="1916640"/>
            <a:ext cx="21730680" cy="6954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260000" y="8423640"/>
            <a:ext cx="22679640" cy="20879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732320" y="1916640"/>
            <a:ext cx="21730680" cy="6954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260000" y="8423640"/>
            <a:ext cx="22679640" cy="20879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732320" y="1916640"/>
            <a:ext cx="21730680" cy="6954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260000" y="8423640"/>
            <a:ext cx="11067480" cy="20879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12881160" y="8423640"/>
            <a:ext cx="11067480" cy="20879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732320" y="1916640"/>
            <a:ext cx="21730680" cy="6954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1732320" y="1916640"/>
            <a:ext cx="21730680" cy="32236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32320" y="1916640"/>
            <a:ext cx="21730680" cy="6954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260000" y="8423640"/>
            <a:ext cx="11067480" cy="9959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2881160" y="8423640"/>
            <a:ext cx="11067480" cy="20879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1260000" y="19329480"/>
            <a:ext cx="11067480" cy="9959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732320" y="1916640"/>
            <a:ext cx="21730680" cy="6954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260000" y="8423640"/>
            <a:ext cx="11067480" cy="20879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2881160" y="8423640"/>
            <a:ext cx="11067480" cy="9959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12881160" y="19329480"/>
            <a:ext cx="11067480" cy="9959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732320" y="1916640"/>
            <a:ext cx="21730680" cy="6954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260000" y="8423640"/>
            <a:ext cx="11067480" cy="9959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12881160" y="8423640"/>
            <a:ext cx="11067480" cy="9959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1260000" y="19329480"/>
            <a:ext cx="22679640" cy="9959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732320" y="1916640"/>
            <a:ext cx="21730680" cy="6954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260000" y="8423640"/>
            <a:ext cx="22679640" cy="9959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1260000" y="19329480"/>
            <a:ext cx="22679640" cy="9959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732320" y="1916640"/>
            <a:ext cx="21730680" cy="6954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260000" y="8423640"/>
            <a:ext cx="11067480" cy="9959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12881160" y="8423640"/>
            <a:ext cx="11067480" cy="9959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1260000" y="19329480"/>
            <a:ext cx="11067480" cy="9959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12881160" y="19329480"/>
            <a:ext cx="11067480" cy="9959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732320" y="1916640"/>
            <a:ext cx="21730680" cy="6954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260000" y="8423640"/>
            <a:ext cx="7302600" cy="9959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928000" y="8423640"/>
            <a:ext cx="7302600" cy="9959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16596360" y="8423640"/>
            <a:ext cx="7302600" cy="9959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1260000" y="19329480"/>
            <a:ext cx="7302600" cy="9959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8928000" y="19329480"/>
            <a:ext cx="7302600" cy="9959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16596360" y="19329480"/>
            <a:ext cx="7302600" cy="9959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732320" y="1916640"/>
            <a:ext cx="21730680" cy="6954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260000" y="8423640"/>
            <a:ext cx="22679640" cy="20879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: Rounded Corners 3"/>
          <p:cNvSpPr/>
          <p:nvPr/>
        </p:nvSpPr>
        <p:spPr>
          <a:xfrm>
            <a:off x="852310" y="1944540"/>
            <a:ext cx="23638371" cy="338302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3856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Vs</a:t>
            </a:r>
            <a:endParaRPr lang="en-US" sz="1800" b="0" strike="noStrike" spc="-1" dirty="0">
              <a:latin typeface="Arial"/>
            </a:endParaRPr>
          </a:p>
        </p:txBody>
      </p:sp>
      <p:graphicFrame>
        <p:nvGraphicFramePr>
          <p:cNvPr id="40" name="Table 2"/>
          <p:cNvGraphicFramePr/>
          <p:nvPr>
            <p:extLst>
              <p:ext uri="{D42A27DB-BD31-4B8C-83A1-F6EECF244321}">
                <p14:modId xmlns:p14="http://schemas.microsoft.com/office/powerpoint/2010/main" val="1377164841"/>
              </p:ext>
            </p:extLst>
          </p:nvPr>
        </p:nvGraphicFramePr>
        <p:xfrm>
          <a:off x="807720" y="665279"/>
          <a:ext cx="23682961" cy="4758155"/>
        </p:xfrm>
        <a:graphic>
          <a:graphicData uri="http://schemas.openxmlformats.org/drawingml/2006/table">
            <a:tbl>
              <a:tblPr/>
              <a:tblGrid>
                <a:gridCol w="5599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8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5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5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4000" b="0" strike="noStrike" spc="-1" dirty="0">
                          <a:solidFill>
                            <a:schemeClr val="bg1"/>
                          </a:solidFill>
                          <a:latin typeface="Arial"/>
                        </a:rPr>
                        <a:t>Deep Learning Course</a:t>
                      </a: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4000" b="0" strike="noStrike" spc="-1" dirty="0">
                          <a:solidFill>
                            <a:schemeClr val="bg1"/>
                          </a:solidFill>
                          <a:latin typeface="Arial"/>
                        </a:rPr>
                        <a:t>For Computer Science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999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5000" b="0" strike="noStrike" spc="-1" dirty="0">
                          <a:solidFill>
                            <a:schemeClr val="bg1"/>
                          </a:solidFill>
                          <a:latin typeface="Arial"/>
                        </a:rPr>
                        <a:t>CNN Model for Classification of textures </a:t>
                      </a:r>
                      <a:br>
                        <a:rPr lang="en-US" sz="5000" b="0" strike="noStrike" spc="-1" dirty="0">
                          <a:solidFill>
                            <a:schemeClr val="bg1"/>
                          </a:solidFill>
                          <a:latin typeface="Arial"/>
                        </a:rPr>
                      </a:br>
                      <a:r>
                        <a:rPr lang="en-US" sz="5000" b="0" strike="noStrike" spc="-1" dirty="0">
                          <a:solidFill>
                            <a:schemeClr val="bg1"/>
                          </a:solidFill>
                          <a:latin typeface="Arial"/>
                        </a:rPr>
                        <a:t>of Colorectal histology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5400" b="1" strike="noStrike" spc="-1" dirty="0">
                          <a:solidFill>
                            <a:srgbClr val="FFFFFF"/>
                          </a:solidFill>
                          <a:latin typeface="Calibri"/>
                        </a:rPr>
                        <a:t>Eli Guy</a:t>
                      </a:r>
                      <a:endParaRPr lang="en-US" sz="5400" b="0" strike="noStrike" spc="-1" dirty="0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4000" b="1" strike="noStrike" spc="-1" dirty="0">
                          <a:solidFill>
                            <a:srgbClr val="FFFFFF"/>
                          </a:solidFill>
                          <a:latin typeface="Calibri"/>
                        </a:rPr>
                        <a:t>Spring 2021 – </a:t>
                      </a:r>
                      <a:r>
                        <a:rPr lang="hi-IN" sz="4000" b="1" strike="noStrike" spc="-1" dirty="0">
                          <a:solidFill>
                            <a:srgbClr val="FFFFFF"/>
                          </a:solidFill>
                          <a:latin typeface="Calibri"/>
                        </a:rPr>
                        <a:t>שנה"ל תשפ"א</a:t>
                      </a:r>
                      <a:r>
                        <a:rPr lang="hi-IN" sz="5400" b="1" strike="noStrike" spc="-1" dirty="0">
                          <a:solidFill>
                            <a:srgbClr val="FFFFFF"/>
                          </a:solidFill>
                          <a:latin typeface="Calibri"/>
                        </a:rPr>
                        <a:t>, </a:t>
                      </a:r>
                      <a:r>
                        <a:rPr lang="hi-IN" sz="4000" b="1" strike="noStrike" spc="-1" dirty="0">
                          <a:solidFill>
                            <a:srgbClr val="FFFFFF"/>
                          </a:solidFill>
                          <a:latin typeface="Calibri"/>
                        </a:rPr>
                        <a:t>סמסטר ב</a:t>
                      </a:r>
                      <a:r>
                        <a:rPr lang="en-US" sz="4000" b="1" strike="noStrike" spc="-1" dirty="0">
                          <a:solidFill>
                            <a:srgbClr val="FFFFFF"/>
                          </a:solidFill>
                          <a:latin typeface="Calibri"/>
                        </a:rPr>
                        <a:t>'</a:t>
                      </a:r>
                      <a:endParaRPr lang="en-US" sz="40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9999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5400" b="0" strike="noStrike" spc="-1" dirty="0">
                          <a:solidFill>
                            <a:schemeClr val="bg1"/>
                          </a:solidFill>
                          <a:latin typeface="Arial"/>
                        </a:rPr>
                        <a:t>Dr. Jonathan Rubin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999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1" name="Picture 1" descr="Related image"/>
          <p:cNvPicPr/>
          <p:nvPr/>
        </p:nvPicPr>
        <p:blipFill>
          <a:blip r:embed="rId2"/>
          <a:stretch/>
        </p:blipFill>
        <p:spPr>
          <a:xfrm>
            <a:off x="20000881" y="1031940"/>
            <a:ext cx="4248360" cy="2810880"/>
          </a:xfrm>
          <a:prstGeom prst="rect">
            <a:avLst/>
          </a:prstGeom>
          <a:ln w="0">
            <a:noFill/>
          </a:ln>
        </p:spPr>
      </p:pic>
      <p:sp>
        <p:nvSpPr>
          <p:cNvPr id="42" name="Text Box 16"/>
          <p:cNvSpPr/>
          <p:nvPr/>
        </p:nvSpPr>
        <p:spPr>
          <a:xfrm>
            <a:off x="1143000" y="5586840"/>
            <a:ext cx="10302240" cy="729720"/>
          </a:xfrm>
          <a:prstGeom prst="rect">
            <a:avLst/>
          </a:prstGeom>
          <a:solidFill>
            <a:srgbClr val="009999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                         </a:t>
            </a:r>
            <a:r>
              <a:rPr lang="en-US" sz="3600" b="1" u="sng" strike="noStrike" spc="-1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Project Summary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43" name="Text Box 16_0"/>
          <p:cNvSpPr/>
          <p:nvPr/>
        </p:nvSpPr>
        <p:spPr>
          <a:xfrm>
            <a:off x="1143000" y="6215400"/>
            <a:ext cx="10302240" cy="2243880"/>
          </a:xfrm>
          <a:prstGeom prst="rect">
            <a:avLst/>
          </a:prstGeom>
          <a:solidFill>
            <a:schemeClr val="bg1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u="sng" strike="noStrike" spc="-1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Work Environment:</a:t>
            </a: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Jupyter</a:t>
            </a: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Notebook</a:t>
            </a:r>
            <a:br>
              <a:rPr dirty="0"/>
            </a:br>
            <a:r>
              <a:rPr lang="en-US" sz="2800" b="1" u="sng" strike="noStrike" spc="-1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Programming language:</a:t>
            </a: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Python </a:t>
            </a:r>
            <a:br>
              <a:rPr dirty="0"/>
            </a:br>
            <a:r>
              <a:rPr lang="en-US" sz="2800" b="1" u="sng" strike="noStrike" spc="-1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Project goal</a:t>
            </a: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r>
              <a:rPr lang="he-IL" sz="2800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n-US" sz="2800" spc="-1" dirty="0">
                <a:solidFill>
                  <a:srgbClr val="000000"/>
                </a:solidFill>
                <a:latin typeface="Arial"/>
                <a:ea typeface="DejaVu Sans"/>
              </a:rPr>
              <a:t>Building and trying out various CNN models for detection of cancer in colorectal histology. Using best picked to display the result in various formats.</a:t>
            </a:r>
            <a:endParaRPr lang="en-US" sz="2100" b="0" strike="noStrike" spc="-1" dirty="0">
              <a:latin typeface="Arial"/>
            </a:endParaRPr>
          </a:p>
        </p:txBody>
      </p:sp>
      <p:sp>
        <p:nvSpPr>
          <p:cNvPr id="44" name="Text Box 16_2"/>
          <p:cNvSpPr/>
          <p:nvPr/>
        </p:nvSpPr>
        <p:spPr>
          <a:xfrm>
            <a:off x="1149480" y="8686080"/>
            <a:ext cx="10295760" cy="731160"/>
          </a:xfrm>
          <a:prstGeom prst="rect">
            <a:avLst/>
          </a:prstGeom>
          <a:solidFill>
            <a:srgbClr val="009999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u="sng" strike="noStrike" spc="-1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Introduction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45" name="Text Box 16_5"/>
          <p:cNvSpPr/>
          <p:nvPr/>
        </p:nvSpPr>
        <p:spPr>
          <a:xfrm>
            <a:off x="12407720" y="12935458"/>
            <a:ext cx="11649254" cy="801720"/>
          </a:xfrm>
          <a:prstGeom prst="rect">
            <a:avLst/>
          </a:prstGeom>
          <a:solidFill>
            <a:srgbClr val="009999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u="sng" spc="-1" dirty="0">
                <a:solidFill>
                  <a:srgbClr val="000000"/>
                </a:solidFill>
                <a:latin typeface="Arial"/>
                <a:ea typeface="DejaVu Sans"/>
              </a:rPr>
              <a:t>Results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46" name="Text Box 16_6"/>
          <p:cNvSpPr/>
          <p:nvPr/>
        </p:nvSpPr>
        <p:spPr>
          <a:xfrm>
            <a:off x="12407721" y="5586840"/>
            <a:ext cx="11649253" cy="729000"/>
          </a:xfrm>
          <a:prstGeom prst="rect">
            <a:avLst/>
          </a:prstGeom>
          <a:solidFill>
            <a:srgbClr val="009999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u="sng" spc="-1" dirty="0">
                <a:latin typeface="Arial"/>
              </a:rPr>
              <a:t>The Model We Used</a:t>
            </a:r>
            <a:endParaRPr lang="en-US" sz="3600" b="1" u="sng" strike="noStrike" spc="-1" dirty="0">
              <a:latin typeface="Arial"/>
            </a:endParaRPr>
          </a:p>
        </p:txBody>
      </p:sp>
      <p:sp>
        <p:nvSpPr>
          <p:cNvPr id="48" name="Text Box 16_3"/>
          <p:cNvSpPr/>
          <p:nvPr/>
        </p:nvSpPr>
        <p:spPr>
          <a:xfrm>
            <a:off x="12407721" y="13695840"/>
            <a:ext cx="11649253" cy="12178064"/>
          </a:xfrm>
          <a:prstGeom prst="rect">
            <a:avLst/>
          </a:prstGeom>
          <a:solidFill>
            <a:schemeClr val="bg1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endParaRPr lang="en-US" sz="28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buFontTx/>
              <a:buChar char="-"/>
            </a:pPr>
            <a:r>
              <a:rPr lang="en-US" sz="2800" b="0" strike="noStrike" spc="-1" dirty="0">
                <a:latin typeface="Arial"/>
              </a:rPr>
              <a:t>We were able to reach an accuracy of 92% on the test data</a:t>
            </a:r>
          </a:p>
          <a:p>
            <a:pPr marL="457200" indent="-457200">
              <a:lnSpc>
                <a:spcPct val="100000"/>
              </a:lnSpc>
              <a:buFontTx/>
              <a:buChar char="-"/>
            </a:pPr>
            <a:endParaRPr lang="en-US" sz="28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buFontTx/>
              <a:buChar char="-"/>
            </a:pPr>
            <a:r>
              <a:rPr lang="en-US" sz="2800" spc="-1" dirty="0">
                <a:latin typeface="Arial"/>
              </a:rPr>
              <a:t>Most of the misclassifications were between one cancerous tissue and another, there </a:t>
            </a:r>
            <a:r>
              <a:rPr lang="en-US" sz="2800" spc="-1">
                <a:latin typeface="Arial"/>
              </a:rPr>
              <a:t>was almost </a:t>
            </a:r>
            <a:r>
              <a:rPr lang="en-US" sz="2800" spc="-1" dirty="0">
                <a:latin typeface="Arial"/>
              </a:rPr>
              <a:t>no healthy tissue classified as cancerous or vice versa.</a:t>
            </a:r>
          </a:p>
          <a:p>
            <a:pPr>
              <a:lnSpc>
                <a:spcPct val="100000"/>
              </a:lnSpc>
            </a:pPr>
            <a:endParaRPr lang="en-US" sz="28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spc="-1" dirty="0">
                <a:latin typeface="Arial"/>
              </a:rPr>
              <a:t> </a:t>
            </a:r>
            <a:endParaRPr lang="en-US" sz="2800" b="0" strike="noStrike" spc="-1" dirty="0">
              <a:latin typeface="Arial"/>
            </a:endParaRPr>
          </a:p>
        </p:txBody>
      </p:sp>
      <p:sp>
        <p:nvSpPr>
          <p:cNvPr id="50" name="Text Box 16_8"/>
          <p:cNvSpPr/>
          <p:nvPr/>
        </p:nvSpPr>
        <p:spPr>
          <a:xfrm>
            <a:off x="5254307" y="32665553"/>
            <a:ext cx="14691360" cy="2779290"/>
          </a:xfrm>
          <a:prstGeom prst="rect">
            <a:avLst/>
          </a:prstGeom>
          <a:solidFill>
            <a:schemeClr val="bg1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endParaRPr lang="en-US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spc="-1" dirty="0">
                <a:latin typeface="Arial"/>
              </a:rPr>
              <a:t>- How well will this type of CNN model perform with other types of histology</a:t>
            </a:r>
          </a:p>
          <a:p>
            <a:pPr>
              <a:lnSpc>
                <a:spcPct val="100000"/>
              </a:lnSpc>
            </a:pPr>
            <a:endParaRPr lang="en-US" sz="28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spc="-1" dirty="0">
                <a:latin typeface="Arial"/>
              </a:rPr>
              <a:t>- Which additional improvements we can make to our current model even more accurate</a:t>
            </a:r>
          </a:p>
          <a:p>
            <a:pPr marL="457200" indent="-457200">
              <a:lnSpc>
                <a:spcPct val="100000"/>
              </a:lnSpc>
              <a:buFontTx/>
              <a:buChar char="-"/>
            </a:pPr>
            <a:endParaRPr lang="en-US" sz="2800" spc="-1" dirty="0">
              <a:latin typeface="Arial"/>
            </a:endParaRPr>
          </a:p>
        </p:txBody>
      </p:sp>
      <p:sp>
        <p:nvSpPr>
          <p:cNvPr id="51" name="Text Box 16_9"/>
          <p:cNvSpPr/>
          <p:nvPr/>
        </p:nvSpPr>
        <p:spPr>
          <a:xfrm>
            <a:off x="1149480" y="15225300"/>
            <a:ext cx="10295760" cy="729000"/>
          </a:xfrm>
          <a:prstGeom prst="rect">
            <a:avLst/>
          </a:prstGeom>
          <a:solidFill>
            <a:srgbClr val="009999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u="sng" spc="-1" dirty="0">
                <a:latin typeface="Arial"/>
              </a:rPr>
              <a:t>The Training/test Dataset</a:t>
            </a:r>
            <a:endParaRPr lang="en-US" sz="3600" b="1" u="sng" strike="noStrike" spc="-1" dirty="0">
              <a:latin typeface="Arial"/>
            </a:endParaRPr>
          </a:p>
        </p:txBody>
      </p:sp>
      <p:sp>
        <p:nvSpPr>
          <p:cNvPr id="52" name="Text Box 16_10"/>
          <p:cNvSpPr/>
          <p:nvPr/>
        </p:nvSpPr>
        <p:spPr>
          <a:xfrm>
            <a:off x="1149480" y="25998549"/>
            <a:ext cx="22907494" cy="731160"/>
          </a:xfrm>
          <a:prstGeom prst="rect">
            <a:avLst/>
          </a:prstGeom>
          <a:solidFill>
            <a:srgbClr val="009999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u="sng" strike="noStrike" spc="-1" dirty="0">
                <a:solidFill>
                  <a:srgbClr val="000000"/>
                </a:solidFill>
                <a:latin typeface="Arial"/>
                <a:ea typeface="DejaVu Sans"/>
              </a:rPr>
              <a:t>Predictions on Full Images</a:t>
            </a:r>
            <a:endParaRPr lang="en-US" sz="3600" b="0" u="sng" strike="noStrike" spc="-1" dirty="0">
              <a:latin typeface="Arial"/>
            </a:endParaRPr>
          </a:p>
        </p:txBody>
      </p:sp>
      <p:sp>
        <p:nvSpPr>
          <p:cNvPr id="56" name="Text Box 16_11"/>
          <p:cNvSpPr/>
          <p:nvPr/>
        </p:nvSpPr>
        <p:spPr>
          <a:xfrm>
            <a:off x="1149480" y="9332460"/>
            <a:ext cx="10295760" cy="5704200"/>
          </a:xfrm>
          <a:prstGeom prst="rect">
            <a:avLst/>
          </a:prstGeom>
          <a:solidFill>
            <a:schemeClr val="bg1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457200" indent="-457200">
              <a:lnSpc>
                <a:spcPct val="100000"/>
              </a:lnSpc>
              <a:buFontTx/>
              <a:buChar char="-"/>
            </a:pPr>
            <a:r>
              <a:rPr lang="en-US" sz="2800" spc="-1" dirty="0">
                <a:solidFill>
                  <a:srgbClr val="000000"/>
                </a:solidFill>
                <a:latin typeface="Arial"/>
                <a:ea typeface="DejaVu Sans"/>
              </a:rPr>
              <a:t>Automated recognition of different tissue types in histological images is an essential part of digital pathology. Texture analysis is a common solution to this problem. </a:t>
            </a:r>
          </a:p>
          <a:p>
            <a:pPr>
              <a:lnSpc>
                <a:spcPct val="100000"/>
              </a:lnSpc>
            </a:pPr>
            <a:endParaRPr lang="en-US" sz="2800" spc="-1" dirty="0">
              <a:solidFill>
                <a:srgbClr val="000000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lang="en-US" sz="2800" b="1" u="sng" spc="-1" dirty="0">
                <a:solidFill>
                  <a:srgbClr val="000000"/>
                </a:solidFill>
                <a:latin typeface="Arial"/>
                <a:ea typeface="DejaVu Sans"/>
              </a:rPr>
              <a:t>Our aim in this project is two-fold:</a:t>
            </a:r>
          </a:p>
          <a:p>
            <a:pPr>
              <a:lnSpc>
                <a:spcPct val="100000"/>
              </a:lnSpc>
            </a:pPr>
            <a:endParaRPr lang="en-US" sz="2800" b="1" u="sng" spc="-1" dirty="0">
              <a:solidFill>
                <a:srgbClr val="000000"/>
              </a:solidFill>
              <a:latin typeface="Arial"/>
              <a:ea typeface="DejaVu Sans"/>
            </a:endParaRPr>
          </a:p>
          <a:p>
            <a:pPr marL="457200" indent="-457200">
              <a:lnSpc>
                <a:spcPct val="100000"/>
              </a:lnSpc>
              <a:buFontTx/>
              <a:buChar char="-"/>
            </a:pPr>
            <a:r>
              <a:rPr lang="en-US" sz="2800" spc="-1" dirty="0">
                <a:solidFill>
                  <a:srgbClr val="000000"/>
                </a:solidFill>
                <a:latin typeface="Arial"/>
                <a:ea typeface="DejaVu Sans"/>
              </a:rPr>
              <a:t>Using a CNN model to more accurately classify tumor tissue</a:t>
            </a:r>
            <a:br>
              <a:rPr lang="en-US" sz="2800" spc="-1" dirty="0">
                <a:solidFill>
                  <a:srgbClr val="000000"/>
                </a:solidFill>
                <a:latin typeface="Arial"/>
                <a:ea typeface="DejaVu Sans"/>
              </a:rPr>
            </a:br>
            <a:r>
              <a:rPr lang="en-US" sz="2800" spc="-1" dirty="0">
                <a:solidFill>
                  <a:srgbClr val="000000"/>
                </a:solidFill>
                <a:latin typeface="Arial"/>
                <a:ea typeface="DejaVu Sans"/>
              </a:rPr>
              <a:t>in histological imagery.</a:t>
            </a:r>
          </a:p>
          <a:p>
            <a:pPr marL="457200" indent="-457200">
              <a:lnSpc>
                <a:spcPct val="100000"/>
              </a:lnSpc>
              <a:buFontTx/>
              <a:buChar char="-"/>
            </a:pPr>
            <a:endParaRPr lang="en-US" sz="2800" spc="-1" dirty="0">
              <a:solidFill>
                <a:srgbClr val="000000"/>
              </a:solidFill>
              <a:latin typeface="Arial"/>
              <a:ea typeface="DejaVu Sans"/>
            </a:endParaRPr>
          </a:p>
          <a:p>
            <a:pPr marL="457200" indent="-457200">
              <a:lnSpc>
                <a:spcPct val="100000"/>
              </a:lnSpc>
              <a:buFontTx/>
              <a:buChar char="-"/>
            </a:pPr>
            <a:r>
              <a:rPr lang="en-US" sz="2800" spc="-1" dirty="0">
                <a:solidFill>
                  <a:srgbClr val="000000"/>
                </a:solidFill>
                <a:latin typeface="Arial"/>
                <a:ea typeface="DejaVu Sans"/>
              </a:rPr>
              <a:t>Building a model that can not only detect</a:t>
            </a:r>
            <a:br>
              <a:rPr lang="en-US" sz="2800" spc="-1" dirty="0">
                <a:solidFill>
                  <a:srgbClr val="000000"/>
                </a:solidFill>
                <a:latin typeface="Arial"/>
                <a:ea typeface="DejaVu Sans"/>
              </a:rPr>
            </a:br>
            <a:r>
              <a:rPr lang="en-US" sz="2800" spc="-1" dirty="0">
                <a:solidFill>
                  <a:srgbClr val="000000"/>
                </a:solidFill>
                <a:latin typeface="Arial"/>
                <a:ea typeface="DejaVu Sans"/>
              </a:rPr>
              <a:t>cancerous tumor tissue but also classify cancerous</a:t>
            </a:r>
            <a:br>
              <a:rPr lang="en-US" sz="2800" spc="-1" dirty="0">
                <a:solidFill>
                  <a:srgbClr val="000000"/>
                </a:solidFill>
                <a:latin typeface="Arial"/>
                <a:ea typeface="DejaVu Sans"/>
              </a:rPr>
            </a:br>
            <a:r>
              <a:rPr lang="en-US" sz="2800" spc="-1" dirty="0">
                <a:solidFill>
                  <a:srgbClr val="000000"/>
                </a:solidFill>
                <a:latin typeface="Arial"/>
                <a:ea typeface="DejaVu Sans"/>
              </a:rPr>
              <a:t>tissues by their types.</a:t>
            </a:r>
          </a:p>
          <a:p>
            <a:pPr>
              <a:lnSpc>
                <a:spcPct val="100000"/>
              </a:lnSpc>
            </a:pPr>
            <a:r>
              <a:rPr lang="en-US" sz="2800" spc="-1" dirty="0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endParaRPr lang="en-US" sz="3200" spc="-1" dirty="0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5" name="Text Box 16_3">
            <a:extLst>
              <a:ext uri="{FF2B5EF4-FFF2-40B4-BE49-F238E27FC236}">
                <a16:creationId xmlns:a16="http://schemas.microsoft.com/office/drawing/2014/main" id="{400048E8-ED27-4D8F-8D2C-5848A12169C9}"/>
              </a:ext>
            </a:extLst>
          </p:cNvPr>
          <p:cNvSpPr/>
          <p:nvPr/>
        </p:nvSpPr>
        <p:spPr>
          <a:xfrm>
            <a:off x="1149480" y="15968422"/>
            <a:ext cx="10295760" cy="9905482"/>
          </a:xfrm>
          <a:prstGeom prst="rect">
            <a:avLst/>
          </a:prstGeom>
          <a:solidFill>
            <a:schemeClr val="bg1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endParaRPr lang="en-US" sz="280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buFontTx/>
              <a:buChar char="-"/>
            </a:pPr>
            <a:r>
              <a:rPr lang="en-US" sz="2800" b="0" strike="noStrike" spc="-1" dirty="0">
                <a:latin typeface="Arial"/>
              </a:rPr>
              <a:t>For our Training and test data </a:t>
            </a:r>
            <a:r>
              <a:rPr lang="en-US" sz="2800" spc="-1" dirty="0">
                <a:latin typeface="Arial"/>
              </a:rPr>
              <a:t>w</a:t>
            </a:r>
            <a:r>
              <a:rPr lang="en-US" sz="2800" b="0" strike="noStrike" spc="-1" dirty="0">
                <a:latin typeface="Arial"/>
              </a:rPr>
              <a:t>e used a datas</a:t>
            </a:r>
            <a:r>
              <a:rPr lang="en-US" sz="2800" spc="-1" dirty="0">
                <a:latin typeface="Arial"/>
              </a:rPr>
              <a:t>et consisting of 8 different types of texture of colorectal histology</a:t>
            </a:r>
          </a:p>
          <a:p>
            <a:pPr>
              <a:lnSpc>
                <a:spcPct val="100000"/>
              </a:lnSpc>
            </a:pPr>
            <a:endParaRPr lang="en-US" sz="2800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buFontTx/>
              <a:buChar char="-"/>
            </a:pPr>
            <a:r>
              <a:rPr lang="en-US" sz="2800" spc="-1" dirty="0">
                <a:latin typeface="Arial"/>
              </a:rPr>
              <a:t>Each example was a 150x150x3 RGB image.</a:t>
            </a:r>
          </a:p>
          <a:p>
            <a:pPr>
              <a:lnSpc>
                <a:spcPct val="100000"/>
              </a:lnSpc>
            </a:pPr>
            <a:endParaRPr lang="en-US" sz="28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8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spc="-1" dirty="0">
                <a:latin typeface="Arial"/>
              </a:rPr>
              <a:t> </a:t>
            </a:r>
            <a:endParaRPr lang="en-US" sz="2800" b="0" strike="noStrike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A7F026-3AED-4782-B3AC-FF9F5B0D87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120" y="18306485"/>
            <a:ext cx="9997440" cy="7250995"/>
          </a:xfrm>
          <a:prstGeom prst="rect">
            <a:avLst/>
          </a:prstGeom>
        </p:spPr>
      </p:pic>
      <p:sp>
        <p:nvSpPr>
          <p:cNvPr id="106" name="Text Box 16_3">
            <a:extLst>
              <a:ext uri="{FF2B5EF4-FFF2-40B4-BE49-F238E27FC236}">
                <a16:creationId xmlns:a16="http://schemas.microsoft.com/office/drawing/2014/main" id="{0E3D2747-9FC6-4CD3-A30A-2F46907E5867}"/>
              </a:ext>
            </a:extLst>
          </p:cNvPr>
          <p:cNvSpPr/>
          <p:nvPr/>
        </p:nvSpPr>
        <p:spPr>
          <a:xfrm>
            <a:off x="12407722" y="6237388"/>
            <a:ext cx="11649253" cy="6334110"/>
          </a:xfrm>
          <a:prstGeom prst="rect">
            <a:avLst/>
          </a:prstGeom>
          <a:solidFill>
            <a:schemeClr val="bg1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endParaRPr lang="en-US" sz="2800" b="0" strike="noStrike" spc="-1" dirty="0">
              <a:latin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060F60-282D-48BE-915A-2DC5A09D8E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3943" y="6264360"/>
            <a:ext cx="4801016" cy="61213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79CD62-7E3D-4415-B47B-D61B598D5D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8047" y="16237329"/>
            <a:ext cx="7848600" cy="45268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81A3B0-603A-4DE0-845D-FFB3A3B7C9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0" y="20704242"/>
            <a:ext cx="7848600" cy="5169662"/>
          </a:xfrm>
          <a:prstGeom prst="rect">
            <a:avLst/>
          </a:prstGeom>
        </p:spPr>
      </p:pic>
      <p:sp>
        <p:nvSpPr>
          <p:cNvPr id="107" name="Text Box 16_10">
            <a:extLst>
              <a:ext uri="{FF2B5EF4-FFF2-40B4-BE49-F238E27FC236}">
                <a16:creationId xmlns:a16="http://schemas.microsoft.com/office/drawing/2014/main" id="{4EEF2629-0F4E-4A71-BD91-32D46108A071}"/>
              </a:ext>
            </a:extLst>
          </p:cNvPr>
          <p:cNvSpPr/>
          <p:nvPr/>
        </p:nvSpPr>
        <p:spPr>
          <a:xfrm>
            <a:off x="5254307" y="31983549"/>
            <a:ext cx="14691360" cy="731160"/>
          </a:xfrm>
          <a:prstGeom prst="rect">
            <a:avLst/>
          </a:prstGeom>
          <a:solidFill>
            <a:srgbClr val="009999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u="sng" spc="-1" dirty="0">
                <a:solidFill>
                  <a:srgbClr val="000000"/>
                </a:solidFill>
                <a:latin typeface="Arial"/>
                <a:ea typeface="DejaVu Sans"/>
              </a:rPr>
              <a:t>Discussions</a:t>
            </a:r>
            <a:endParaRPr lang="en-US" sz="3600" b="0" u="sng" strike="noStrike" spc="-1" dirty="0">
              <a:latin typeface="Arial"/>
            </a:endParaRPr>
          </a:p>
        </p:txBody>
      </p:sp>
      <p:sp>
        <p:nvSpPr>
          <p:cNvPr id="108" name="Text Box 16_8">
            <a:extLst>
              <a:ext uri="{FF2B5EF4-FFF2-40B4-BE49-F238E27FC236}">
                <a16:creationId xmlns:a16="http://schemas.microsoft.com/office/drawing/2014/main" id="{34B6EA4A-C5D1-4A01-8B0C-84A94754DC2A}"/>
              </a:ext>
            </a:extLst>
          </p:cNvPr>
          <p:cNvSpPr/>
          <p:nvPr/>
        </p:nvSpPr>
        <p:spPr>
          <a:xfrm>
            <a:off x="1149480" y="26729708"/>
            <a:ext cx="22907494" cy="5121892"/>
          </a:xfrm>
          <a:prstGeom prst="rect">
            <a:avLst/>
          </a:prstGeom>
          <a:solidFill>
            <a:schemeClr val="bg1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457200" indent="-457200">
              <a:lnSpc>
                <a:spcPct val="100000"/>
              </a:lnSpc>
              <a:buFontTx/>
              <a:buChar char="-"/>
            </a:pPr>
            <a:r>
              <a:rPr lang="en-US" sz="2800" b="0" strike="noStrike" spc="-1" dirty="0">
                <a:latin typeface="Arial"/>
              </a:rPr>
              <a:t>After we finished training our model we loaded a dataset containing full 5000x5000x3 histology images</a:t>
            </a:r>
            <a:endParaRPr lang="en-US" sz="2800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buFontTx/>
              <a:buChar char="-"/>
            </a:pPr>
            <a:endParaRPr lang="en-US" sz="28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buFontTx/>
              <a:buChar char="-"/>
            </a:pPr>
            <a:r>
              <a:rPr lang="en-US" sz="2800" spc="-1" dirty="0">
                <a:latin typeface="Arial"/>
              </a:rPr>
              <a:t>We separated our prediction into two images, one color map for tissue type and the second a probability heat map that a given tissue is a cancerous tumor </a:t>
            </a:r>
          </a:p>
          <a:p>
            <a:pPr>
              <a:lnSpc>
                <a:spcPct val="100000"/>
              </a:lnSpc>
            </a:pPr>
            <a:endParaRPr lang="en-US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8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buFontTx/>
              <a:buChar char="-"/>
            </a:pPr>
            <a:endParaRPr lang="en-US" sz="2800" b="0" strike="noStrike" spc="-1" dirty="0"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4FEA2A-6888-4C15-B821-0797A1BCC2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184" y="28003259"/>
            <a:ext cx="12091072" cy="38347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871</TotalTime>
  <Words>307</Words>
  <Application>Microsoft Office PowerPoint</Application>
  <PresentationFormat>Custom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Symbol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Dmitry Patashov</dc:creator>
  <dc:description/>
  <cp:lastModifiedBy>nonovyor buisness</cp:lastModifiedBy>
  <cp:revision>104</cp:revision>
  <dcterms:created xsi:type="dcterms:W3CDTF">2019-01-27T10:54:29Z</dcterms:created>
  <dcterms:modified xsi:type="dcterms:W3CDTF">2021-06-25T09:40:21Z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1</vt:i4>
  </property>
</Properties>
</file>